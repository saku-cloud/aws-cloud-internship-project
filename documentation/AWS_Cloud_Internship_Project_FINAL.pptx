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371600"/>
            <a:ext cx="10515600" cy="1097280"/>
          </a:xfrm>
          <a:prstGeom prst="rect">
            <a:avLst/>
          </a:prstGeom>
          <a:noFill/>
        </p:spPr>
        <p:txBody>
          <a:bodyPr wrap="none">
            <a:spAutoFit/>
          </a:bodyPr>
          <a:lstStyle/>
          <a:p>
            <a:pPr algn="ctr">
              <a:defRPr sz="3400" b="1"/>
            </a:pPr>
            <a:r>
              <a:t>AWS Cloud Internship Project</a:t>
            </a:r>
          </a:p>
        </p:txBody>
      </p:sp>
      <p:sp>
        <p:nvSpPr>
          <p:cNvPr id="3" name="TextBox 2"/>
          <p:cNvSpPr txBox="1"/>
          <p:nvPr/>
        </p:nvSpPr>
        <p:spPr>
          <a:xfrm>
            <a:off x="914400" y="2743200"/>
            <a:ext cx="10332720" cy="1188720"/>
          </a:xfrm>
          <a:prstGeom prst="rect">
            <a:avLst/>
          </a:prstGeom>
          <a:noFill/>
        </p:spPr>
        <p:txBody>
          <a:bodyPr wrap="none">
            <a:spAutoFit/>
          </a:bodyPr>
          <a:lstStyle/>
          <a:p>
            <a:pPr algn="ctr">
              <a:defRPr sz="1800"/>
            </a:pPr>
            <a:r>
              <a:t>Custom VPC + EC2 Web Application + S3 Storage + IAM Roles + CloudWatch Monitoring + Automated Backup and Cost Control</a:t>
            </a:r>
          </a:p>
        </p:txBody>
      </p:sp>
      <p:sp>
        <p:nvSpPr>
          <p:cNvPr id="4" name="TextBox 3"/>
          <p:cNvSpPr txBox="1"/>
          <p:nvPr/>
        </p:nvSpPr>
        <p:spPr>
          <a:xfrm>
            <a:off x="914400" y="4937760"/>
            <a:ext cx="10332720" cy="457200"/>
          </a:xfrm>
          <a:prstGeom prst="rect">
            <a:avLst/>
          </a:prstGeom>
          <a:noFill/>
        </p:spPr>
        <p:txBody>
          <a:bodyPr wrap="none">
            <a:spAutoFit/>
          </a:bodyPr>
          <a:lstStyle/>
          <a:p>
            <a:pPr algn="ctr">
              <a:defRPr sz="1400"/>
            </a:pPr>
            <a:r>
              <a:t>Final Project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Project Architecture</a:t>
            </a:r>
          </a:p>
        </p:txBody>
      </p:sp>
      <p:pic>
        <p:nvPicPr>
          <p:cNvPr id="3" name="Picture 2" descr="a_clean_infographic_diagram_on_a_white_background.png"/>
          <p:cNvPicPr>
            <a:picLocks noChangeAspect="1"/>
          </p:cNvPicPr>
          <p:nvPr/>
        </p:nvPicPr>
        <p:blipFill>
          <a:blip r:embed="rId2"/>
          <a:stretch>
            <a:fillRect/>
          </a:stretch>
        </p:blipFill>
        <p:spPr>
          <a:xfrm>
            <a:off x="914400" y="1143000"/>
            <a:ext cx="10332720" cy="6888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1. Project Overview</a:t>
            </a:r>
          </a:p>
        </p:txBody>
      </p:sp>
      <p:sp>
        <p:nvSpPr>
          <p:cNvPr id="3" name="TextBox 2"/>
          <p:cNvSpPr txBox="1"/>
          <p:nvPr/>
        </p:nvSpPr>
        <p:spPr>
          <a:xfrm>
            <a:off x="822960" y="1371600"/>
            <a:ext cx="10515600" cy="4389120"/>
          </a:xfrm>
          <a:prstGeom prst="rect">
            <a:avLst/>
          </a:prstGeom>
          <a:noFill/>
        </p:spPr>
        <p:txBody>
          <a:bodyPr wrap="square">
            <a:spAutoFit/>
          </a:bodyPr>
          <a:lstStyle/>
          <a:p>
            <a:pPr>
              <a:defRPr sz="2000"/>
            </a:pPr>
            <a:r>
              <a:t>This project demonstrates a secure, cost-conscious AWS environment for an internship/student web application. The implementation combines a custom VPC, public subnet, Internet Gateway, Linux EC2 web server, S3 storage, IAM roles and policies, CloudWatch monitoring, SNS notifications, EBS backup/restore, AWS Budget controls, and web-access-log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2. Project Objectives</a:t>
            </a:r>
          </a:p>
        </p:txBody>
      </p:sp>
      <p:sp>
        <p:nvSpPr>
          <p:cNvPr id="3" name="TextBox 2"/>
          <p:cNvSpPr txBox="1"/>
          <p:nvPr/>
        </p:nvSpPr>
        <p:spPr>
          <a:xfrm>
            <a:off x="822960" y="1371600"/>
            <a:ext cx="10515600" cy="4389120"/>
          </a:xfrm>
          <a:prstGeom prst="rect">
            <a:avLst/>
          </a:prstGeom>
          <a:noFill/>
        </p:spPr>
        <p:txBody>
          <a:bodyPr wrap="square">
            <a:spAutoFit/>
          </a:bodyPr>
          <a:lstStyle/>
          <a:p>
            <a:pPr>
              <a:defRPr sz="2000"/>
            </a:pPr>
            <a:r>
              <a:t>The project objectives were to build a custom VPC and public subnet, deploy a Linux web server, apply least-privilege IAM controls, integrate EC2 with S3 without hardcoded credentials, monitor the EC2 instance with CloudWatch, send alerts through SNS, create an EBS snapshot and validate restoration, control cost with AWS Budgets, and analyze a sample web-access-log dataset.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IAM &amp; Security</a:t>
            </a:r>
          </a:p>
        </p:txBody>
      </p:sp>
      <p:sp>
        <p:nvSpPr>
          <p:cNvPr id="3" name="TextBox 2"/>
          <p:cNvSpPr txBox="1"/>
          <p:nvPr/>
        </p:nvSpPr>
        <p:spPr>
          <a:xfrm>
            <a:off x="914400" y="1280160"/>
            <a:ext cx="10058400" cy="4937760"/>
          </a:xfrm>
          <a:prstGeom prst="rect">
            <a:avLst/>
          </a:prstGeom>
          <a:noFill/>
        </p:spPr>
        <p:txBody>
          <a:bodyPr wrap="square">
            <a:spAutoFit/>
          </a:bodyPr>
          <a:lstStyle/>
          <a:p>
            <a:pPr>
              <a:spcAft>
                <a:spcPts val="1200"/>
              </a:spcAft>
              <a:defRPr sz="2000"/>
            </a:pPr>
            <a:r>
              <a:t>Root MFA enabled; no active root access keys</a:t>
            </a:r>
          </a:p>
          <a:p>
            <a:pPr>
              <a:spcAft>
                <a:spcPts val="1200"/>
              </a:spcAft>
              <a:defRPr sz="2000"/>
            </a:pPr>
            <a:r>
              <a:t>InternDevelopers + InternshipProjectPolicy</a:t>
            </a:r>
          </a:p>
          <a:p>
            <a:pPr>
              <a:spcAft>
                <a:spcPts val="1200"/>
              </a:spcAft>
              <a:defRPr sz="2000"/>
            </a:pPr>
            <a:r>
              <a:t>EC2 uses InternshipEC2S3Role</a:t>
            </a:r>
          </a:p>
          <a:p>
            <a:pPr>
              <a:spcAft>
                <a:spcPts val="1200"/>
              </a:spcAft>
              <a:defRPr sz="2000"/>
            </a:pPr>
            <a:r>
              <a:t>S3 access scoped to the designated project bucket</a:t>
            </a:r>
          </a:p>
          <a:p>
            <a:pPr>
              <a:spcAft>
                <a:spcPts val="1200"/>
              </a:spcAft>
              <a:defRPr sz="2000"/>
            </a:pPr>
            <a:r>
              <a:t>Unrelated S3 access tested and denied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VPC &amp; Networking</a:t>
            </a:r>
          </a:p>
        </p:txBody>
      </p:sp>
      <p:sp>
        <p:nvSpPr>
          <p:cNvPr id="3" name="TextBox 2"/>
          <p:cNvSpPr txBox="1"/>
          <p:nvPr/>
        </p:nvSpPr>
        <p:spPr>
          <a:xfrm>
            <a:off x="914400" y="1280160"/>
            <a:ext cx="10058400" cy="4937760"/>
          </a:xfrm>
          <a:prstGeom prst="rect">
            <a:avLst/>
          </a:prstGeom>
          <a:noFill/>
        </p:spPr>
        <p:txBody>
          <a:bodyPr wrap="square">
            <a:spAutoFit/>
          </a:bodyPr>
          <a:lstStyle/>
          <a:p>
            <a:pPr>
              <a:spcAft>
                <a:spcPts val="1200"/>
              </a:spcAft>
              <a:defRPr sz="2000"/>
            </a:pPr>
            <a:r>
              <a:t>VPC: 10.0.0.0/16</a:t>
            </a:r>
          </a:p>
          <a:p>
            <a:pPr>
              <a:spcAft>
                <a:spcPts val="1200"/>
              </a:spcAft>
              <a:defRPr sz="2000"/>
            </a:pPr>
            <a:r>
              <a:t>Public subnet: 10.0.1.0/24 in ap-south-1a</a:t>
            </a:r>
          </a:p>
          <a:p>
            <a:pPr>
              <a:spcAft>
                <a:spcPts val="1200"/>
              </a:spcAft>
              <a:defRPr sz="2000"/>
            </a:pPr>
            <a:r>
              <a:t>Internet Gateway + public route table</a:t>
            </a:r>
          </a:p>
          <a:p>
            <a:pPr>
              <a:spcAft>
                <a:spcPts val="1200"/>
              </a:spcAft>
              <a:defRPr sz="2000"/>
            </a:pPr>
            <a:r>
              <a:t>HTTP 80 allowed</a:t>
            </a:r>
          </a:p>
          <a:p>
            <a:pPr>
              <a:spcAft>
                <a:spcPts val="1200"/>
              </a:spcAft>
              <a:defRPr sz="2000"/>
            </a:pPr>
            <a:r>
              <a:t>SSH 22 restricted to the user's IP /32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EC2 &amp; Student Portal</a:t>
            </a:r>
          </a:p>
        </p:txBody>
      </p:sp>
      <p:sp>
        <p:nvSpPr>
          <p:cNvPr id="3" name="TextBox 2"/>
          <p:cNvSpPr txBox="1"/>
          <p:nvPr/>
        </p:nvSpPr>
        <p:spPr>
          <a:xfrm>
            <a:off x="914400" y="1280160"/>
            <a:ext cx="10058400" cy="4937760"/>
          </a:xfrm>
          <a:prstGeom prst="rect">
            <a:avLst/>
          </a:prstGeom>
          <a:noFill/>
        </p:spPr>
        <p:txBody>
          <a:bodyPr wrap="square">
            <a:spAutoFit/>
          </a:bodyPr>
          <a:lstStyle/>
          <a:p>
            <a:pPr>
              <a:spcAft>
                <a:spcPts val="1200"/>
              </a:spcAft>
              <a:defRPr sz="2000"/>
            </a:pPr>
            <a:r>
              <a:t>Ubuntu Linux t3.micro</a:t>
            </a:r>
          </a:p>
          <a:p>
            <a:pPr>
              <a:spcAft>
                <a:spcPts val="1200"/>
              </a:spcAft>
              <a:defRPr sz="2000"/>
            </a:pPr>
            <a:r>
              <a:t>8 GiB gp3 root volume</a:t>
            </a:r>
          </a:p>
          <a:p>
            <a:pPr>
              <a:spcAft>
                <a:spcPts val="1200"/>
              </a:spcAft>
              <a:defRPr sz="2000"/>
            </a:pPr>
            <a:r>
              <a:t>Apache2 hosts /student-portal/</a:t>
            </a:r>
          </a:p>
          <a:p>
            <a:pPr>
              <a:spcAft>
                <a:spcPts val="1200"/>
              </a:spcAft>
              <a:defRPr sz="2000"/>
            </a:pPr>
            <a:r>
              <a:t>/health endpoint returns HTTP 200</a:t>
            </a:r>
          </a:p>
          <a:p>
            <a:pPr>
              <a:spcAft>
                <a:spcPts val="1200"/>
              </a:spcAft>
              <a:defRPr sz="2000"/>
            </a:pPr>
            <a:r>
              <a:t>IMDSv2 required and IAM instance profile attached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S3, Monitoring &amp; Backup</a:t>
            </a:r>
          </a:p>
        </p:txBody>
      </p:sp>
      <p:sp>
        <p:nvSpPr>
          <p:cNvPr id="3" name="TextBox 2"/>
          <p:cNvSpPr txBox="1"/>
          <p:nvPr/>
        </p:nvSpPr>
        <p:spPr>
          <a:xfrm>
            <a:off x="914400" y="1280160"/>
            <a:ext cx="10058400" cy="4937760"/>
          </a:xfrm>
          <a:prstGeom prst="rect">
            <a:avLst/>
          </a:prstGeom>
          <a:noFill/>
        </p:spPr>
        <p:txBody>
          <a:bodyPr wrap="square">
            <a:spAutoFit/>
          </a:bodyPr>
          <a:lstStyle/>
          <a:p>
            <a:pPr>
              <a:spcAft>
                <a:spcPts val="1200"/>
              </a:spcAft>
              <a:defRPr sz="2000"/>
            </a:pPr>
            <a:r>
              <a:t>Private S3 bucket with Block Public Access</a:t>
            </a:r>
          </a:p>
          <a:p>
            <a:pPr>
              <a:spcAft>
                <a:spcPts val="1200"/>
              </a:spcAft>
              <a:defRPr sz="2000"/>
            </a:pPr>
            <a:r>
              <a:t>CloudWatch CPU and status-check alarms</a:t>
            </a:r>
          </a:p>
          <a:p>
            <a:pPr>
              <a:spcAft>
                <a:spcPts val="1200"/>
              </a:spcAft>
              <a:defRPr sz="2000"/>
            </a:pPr>
            <a:r>
              <a:t>SNS email subscription confirmed</a:t>
            </a:r>
          </a:p>
          <a:p>
            <a:pPr>
              <a:spcAft>
                <a:spcPts val="1200"/>
              </a:spcAft>
              <a:defRPr sz="2000"/>
            </a:pPr>
            <a:r>
              <a:t>EBS snapshot completed</a:t>
            </a:r>
          </a:p>
          <a:p>
            <a:pPr>
              <a:spcAft>
                <a:spcPts val="1200"/>
              </a:spcAft>
              <a:defRPr sz="2000"/>
            </a:pPr>
            <a:r>
              <a:t>Temporary restore volume validated and deleted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Log Analysis Results</a:t>
            </a:r>
          </a:p>
        </p:txBody>
      </p:sp>
      <p:sp>
        <p:nvSpPr>
          <p:cNvPr id="3" name="TextBox 2"/>
          <p:cNvSpPr txBox="1"/>
          <p:nvPr/>
        </p:nvSpPr>
        <p:spPr>
          <a:xfrm>
            <a:off x="914400" y="1280160"/>
            <a:ext cx="10058400" cy="4937760"/>
          </a:xfrm>
          <a:prstGeom prst="rect">
            <a:avLst/>
          </a:prstGeom>
          <a:noFill/>
        </p:spPr>
        <p:txBody>
          <a:bodyPr wrap="square">
            <a:spAutoFit/>
          </a:bodyPr>
          <a:lstStyle/>
          <a:p>
            <a:pPr>
              <a:spcAft>
                <a:spcPts val="1200"/>
              </a:spcAft>
              <a:defRPr sz="2000"/>
            </a:pPr>
            <a:r>
              <a:t>500 total requests</a:t>
            </a:r>
          </a:p>
          <a:p>
            <a:pPr>
              <a:spcAft>
                <a:spcPts val="1200"/>
              </a:spcAft>
              <a:defRPr sz="2000"/>
            </a:pPr>
            <a:r>
              <a:t>Top pages include / and /health</a:t>
            </a:r>
          </a:p>
          <a:p>
            <a:pPr>
              <a:spcAft>
                <a:spcPts val="1200"/>
              </a:spcAft>
              <a:defRPr sz="2000"/>
            </a:pPr>
            <a:r>
              <a:t>21 4xx errors; 6 5xx errors</a:t>
            </a:r>
          </a:p>
          <a:p>
            <a:pPr>
              <a:spcAft>
                <a:spcPts val="1200"/>
              </a:spcAft>
              <a:defRPr sz="2000"/>
            </a:pPr>
            <a:r>
              <a:t>35 unique IP addresses</a:t>
            </a:r>
          </a:p>
          <a:p>
            <a:pPr>
              <a:spcAft>
                <a:spcPts val="1200"/>
              </a:spcAft>
              <a:defRPr sz="2000"/>
            </a:pPr>
            <a:r>
              <a:t>Peak hour: 16:00–16:59 with 63 requests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Cost Control</a:t>
            </a:r>
          </a:p>
        </p:txBody>
      </p:sp>
      <p:sp>
        <p:nvSpPr>
          <p:cNvPr id="3" name="TextBox 2"/>
          <p:cNvSpPr txBox="1"/>
          <p:nvPr/>
        </p:nvSpPr>
        <p:spPr>
          <a:xfrm>
            <a:off x="914400" y="1280160"/>
            <a:ext cx="10058400" cy="4937760"/>
          </a:xfrm>
          <a:prstGeom prst="rect">
            <a:avLst/>
          </a:prstGeom>
          <a:noFill/>
        </p:spPr>
        <p:txBody>
          <a:bodyPr wrap="square">
            <a:spAutoFit/>
          </a:bodyPr>
          <a:lstStyle/>
          <a:p>
            <a:pPr>
              <a:spcAft>
                <a:spcPts val="1200"/>
              </a:spcAft>
              <a:defRPr sz="2000"/>
            </a:pPr>
            <a:r>
              <a:t>No NAT Gateway, load balancer, RDS, or Auto Scaling</a:t>
            </a:r>
          </a:p>
          <a:p>
            <a:pPr>
              <a:spcAft>
                <a:spcPts val="1200"/>
              </a:spcAft>
              <a:defRPr sz="2000"/>
            </a:pPr>
            <a:r>
              <a:t>Recurring $1 monthly AWS Budget</a:t>
            </a:r>
          </a:p>
          <a:p>
            <a:pPr>
              <a:spcAft>
                <a:spcPts val="1200"/>
              </a:spcAft>
              <a:defRPr sz="2000"/>
            </a:pPr>
            <a:r>
              <a:t>80% actual-spend alert</a:t>
            </a:r>
          </a:p>
          <a:p>
            <a:pPr>
              <a:spcAft>
                <a:spcPts val="1200"/>
              </a:spcAft>
              <a:defRPr sz="2000"/>
            </a:pPr>
            <a:r>
              <a:t>Project tagging applied</a:t>
            </a:r>
          </a:p>
          <a:p>
            <a:pPr>
              <a:spcAft>
                <a:spcPts val="1200"/>
              </a:spcAft>
              <a:defRPr sz="2000"/>
            </a:pPr>
            <a:r>
              <a:t>Temporary restored EBS volume cleaned 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Evidence 1</a:t>
            </a:r>
          </a:p>
        </p:txBody>
      </p:sp>
      <p:sp>
        <p:nvSpPr>
          <p:cNvPr id="3" name="TextBox 2"/>
          <p:cNvSpPr txBox="1"/>
          <p:nvPr/>
        </p:nvSpPr>
        <p:spPr>
          <a:xfrm>
            <a:off x="621792" y="914400"/>
            <a:ext cx="10789920" cy="365760"/>
          </a:xfrm>
          <a:prstGeom prst="rect">
            <a:avLst/>
          </a:prstGeom>
          <a:noFill/>
        </p:spPr>
        <p:txBody>
          <a:bodyPr wrap="none">
            <a:spAutoFit/>
          </a:bodyPr>
          <a:lstStyle/>
          <a:p>
            <a:pPr>
              <a:defRPr sz="1200"/>
            </a:pPr>
            <a:r>
              <a:t>Evidence Plate 1 — Student Portal landing page, AWS architecture page, and EC2/application terminal evidence.</a:t>
            </a:r>
          </a:p>
        </p:txBody>
      </p:sp>
      <p:pic>
        <p:nvPicPr>
          <p:cNvPr id="4" name="Picture 3" descr="page-1.jpg"/>
          <p:cNvPicPr>
            <a:picLocks noChangeAspect="1"/>
          </p:cNvPicPr>
          <p:nvPr/>
        </p:nvPicPr>
        <p:blipFill>
          <a:blip r:embed="rId2"/>
          <a:stretch>
            <a:fillRect/>
          </a:stretch>
        </p:blipFill>
        <p:spPr>
          <a:xfrm>
            <a:off x="1828800" y="1143000"/>
            <a:ext cx="8503920" cy="120115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Evidence 2</a:t>
            </a:r>
          </a:p>
        </p:txBody>
      </p:sp>
      <p:sp>
        <p:nvSpPr>
          <p:cNvPr id="3" name="TextBox 2"/>
          <p:cNvSpPr txBox="1"/>
          <p:nvPr/>
        </p:nvSpPr>
        <p:spPr>
          <a:xfrm>
            <a:off x="621792" y="914400"/>
            <a:ext cx="10789920" cy="365760"/>
          </a:xfrm>
          <a:prstGeom prst="rect">
            <a:avLst/>
          </a:prstGeom>
          <a:noFill/>
        </p:spPr>
        <p:txBody>
          <a:bodyPr wrap="none">
            <a:spAutoFit/>
          </a:bodyPr>
          <a:lstStyle/>
          <a:p>
            <a:pPr>
              <a:defRPr sz="1200"/>
            </a:pPr>
            <a:r>
              <a:t>Evidence Plate 2 — Custom VPC configuration, Linux/Apache validation, and Python web-log analysis output.</a:t>
            </a:r>
          </a:p>
        </p:txBody>
      </p:sp>
      <p:pic>
        <p:nvPicPr>
          <p:cNvPr id="4" name="Picture 3" descr="page-2.jpg"/>
          <p:cNvPicPr>
            <a:picLocks noChangeAspect="1"/>
          </p:cNvPicPr>
          <p:nvPr/>
        </p:nvPicPr>
        <p:blipFill>
          <a:blip r:embed="rId2"/>
          <a:stretch>
            <a:fillRect/>
          </a:stretch>
        </p:blipFill>
        <p:spPr>
          <a:xfrm>
            <a:off x="1828800" y="1143000"/>
            <a:ext cx="8503920" cy="120115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Evidence 3</a:t>
            </a:r>
          </a:p>
        </p:txBody>
      </p:sp>
      <p:sp>
        <p:nvSpPr>
          <p:cNvPr id="3" name="TextBox 2"/>
          <p:cNvSpPr txBox="1"/>
          <p:nvPr/>
        </p:nvSpPr>
        <p:spPr>
          <a:xfrm>
            <a:off x="621792" y="914400"/>
            <a:ext cx="10789920" cy="365760"/>
          </a:xfrm>
          <a:prstGeom prst="rect">
            <a:avLst/>
          </a:prstGeom>
          <a:noFill/>
        </p:spPr>
        <p:txBody>
          <a:bodyPr wrap="none">
            <a:spAutoFit/>
          </a:bodyPr>
          <a:lstStyle/>
          <a:p>
            <a:pPr>
              <a:defRPr sz="1200"/>
            </a:pPr>
            <a:r>
              <a:t>Evidence Plate 3 — IAM Dashboard and security configuration evidence.</a:t>
            </a:r>
          </a:p>
        </p:txBody>
      </p:sp>
      <p:pic>
        <p:nvPicPr>
          <p:cNvPr id="4" name="Picture 3" descr="page-3.jpg"/>
          <p:cNvPicPr>
            <a:picLocks noChangeAspect="1"/>
          </p:cNvPicPr>
          <p:nvPr/>
        </p:nvPicPr>
        <p:blipFill>
          <a:blip r:embed="rId2"/>
          <a:stretch>
            <a:fillRect/>
          </a:stretch>
        </p:blipFill>
        <p:spPr>
          <a:xfrm>
            <a:off x="1828800" y="1143000"/>
            <a:ext cx="8503920" cy="120115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Evidence 4</a:t>
            </a:r>
          </a:p>
        </p:txBody>
      </p:sp>
      <p:sp>
        <p:nvSpPr>
          <p:cNvPr id="3" name="TextBox 2"/>
          <p:cNvSpPr txBox="1"/>
          <p:nvPr/>
        </p:nvSpPr>
        <p:spPr>
          <a:xfrm>
            <a:off x="621792" y="914400"/>
            <a:ext cx="10789920" cy="365760"/>
          </a:xfrm>
          <a:prstGeom prst="rect">
            <a:avLst/>
          </a:prstGeom>
          <a:noFill/>
        </p:spPr>
        <p:txBody>
          <a:bodyPr wrap="none">
            <a:spAutoFit/>
          </a:bodyPr>
          <a:lstStyle/>
          <a:p>
            <a:pPr>
              <a:defRPr sz="1200"/>
            </a:pPr>
            <a:r>
              <a:t>Evidence Plate 4 — EC2 instance and related compute configuration evidence.</a:t>
            </a:r>
          </a:p>
        </p:txBody>
      </p:sp>
      <p:pic>
        <p:nvPicPr>
          <p:cNvPr id="4" name="Picture 3" descr="page-4.jpg"/>
          <p:cNvPicPr>
            <a:picLocks noChangeAspect="1"/>
          </p:cNvPicPr>
          <p:nvPr/>
        </p:nvPicPr>
        <p:blipFill>
          <a:blip r:embed="rId2"/>
          <a:stretch>
            <a:fillRect/>
          </a:stretch>
        </p:blipFill>
        <p:spPr>
          <a:xfrm>
            <a:off x="1828800" y="1143000"/>
            <a:ext cx="8503920" cy="120115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Evidence 5</a:t>
            </a:r>
          </a:p>
        </p:txBody>
      </p:sp>
      <p:sp>
        <p:nvSpPr>
          <p:cNvPr id="3" name="TextBox 2"/>
          <p:cNvSpPr txBox="1"/>
          <p:nvPr/>
        </p:nvSpPr>
        <p:spPr>
          <a:xfrm>
            <a:off x="621792" y="914400"/>
            <a:ext cx="10789920" cy="365760"/>
          </a:xfrm>
          <a:prstGeom prst="rect">
            <a:avLst/>
          </a:prstGeom>
          <a:noFill/>
        </p:spPr>
        <p:txBody>
          <a:bodyPr wrap="none">
            <a:spAutoFit/>
          </a:bodyPr>
          <a:lstStyle/>
          <a:p>
            <a:pPr>
              <a:defRPr sz="1200"/>
            </a:pPr>
            <a:r>
              <a:t>Evidence Plate 5 — AWS Budget and cost-control evidence.</a:t>
            </a:r>
          </a:p>
        </p:txBody>
      </p:sp>
      <p:pic>
        <p:nvPicPr>
          <p:cNvPr id="4" name="Picture 3" descr="page-5.jpg"/>
          <p:cNvPicPr>
            <a:picLocks noChangeAspect="1"/>
          </p:cNvPicPr>
          <p:nvPr/>
        </p:nvPicPr>
        <p:blipFill>
          <a:blip r:embed="rId2"/>
          <a:stretch>
            <a:fillRect/>
          </a:stretch>
        </p:blipFill>
        <p:spPr>
          <a:xfrm>
            <a:off x="1828800" y="1143000"/>
            <a:ext cx="8503920" cy="120115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Evidence 6</a:t>
            </a:r>
          </a:p>
        </p:txBody>
      </p:sp>
      <p:sp>
        <p:nvSpPr>
          <p:cNvPr id="3" name="TextBox 2"/>
          <p:cNvSpPr txBox="1"/>
          <p:nvPr/>
        </p:nvSpPr>
        <p:spPr>
          <a:xfrm>
            <a:off x="621792" y="914400"/>
            <a:ext cx="10789920" cy="365760"/>
          </a:xfrm>
          <a:prstGeom prst="rect">
            <a:avLst/>
          </a:prstGeom>
          <a:noFill/>
        </p:spPr>
        <p:txBody>
          <a:bodyPr wrap="none">
            <a:spAutoFit/>
          </a:bodyPr>
          <a:lstStyle/>
          <a:p>
            <a:pPr>
              <a:defRPr sz="1200"/>
            </a:pPr>
            <a:r>
              <a:t>Evidence Plate 6 — CloudWatch alarm configuration and monitoring evidence.</a:t>
            </a:r>
          </a:p>
        </p:txBody>
      </p:sp>
      <p:pic>
        <p:nvPicPr>
          <p:cNvPr id="4" name="Picture 3" descr="page-6.jpg"/>
          <p:cNvPicPr>
            <a:picLocks noChangeAspect="1"/>
          </p:cNvPicPr>
          <p:nvPr/>
        </p:nvPicPr>
        <p:blipFill>
          <a:blip r:embed="rId2"/>
          <a:stretch>
            <a:fillRect/>
          </a:stretch>
        </p:blipFill>
        <p:spPr>
          <a:xfrm>
            <a:off x="1828800" y="1143000"/>
            <a:ext cx="8503920" cy="120115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Testing &amp; Validation</a:t>
            </a:r>
          </a:p>
        </p:txBody>
      </p:sp>
      <p:sp>
        <p:nvSpPr>
          <p:cNvPr id="3" name="TextBox 2"/>
          <p:cNvSpPr txBox="1"/>
          <p:nvPr/>
        </p:nvSpPr>
        <p:spPr>
          <a:xfrm>
            <a:off x="822960" y="1234440"/>
            <a:ext cx="10515600" cy="5029200"/>
          </a:xfrm>
          <a:prstGeom prst="rect">
            <a:avLst/>
          </a:prstGeom>
          <a:noFill/>
        </p:spPr>
        <p:txBody>
          <a:bodyPr wrap="none">
            <a:spAutoFit/>
          </a:bodyPr>
          <a:lstStyle/>
          <a:p>
            <a:pPr>
              <a:spcAft>
                <a:spcPts val="1000"/>
              </a:spcAft>
              <a:defRPr sz="1900"/>
            </a:pPr>
            <a:r>
              <a:t>Student Portal reachable over HTTP</a:t>
            </a:r>
          </a:p>
          <a:p>
            <a:pPr>
              <a:spcAft>
                <a:spcPts val="1000"/>
              </a:spcAft>
              <a:defRPr sz="1900"/>
            </a:pPr>
            <a:r>
              <a:t>/health returned HTTP 200</a:t>
            </a:r>
          </a:p>
          <a:p>
            <a:pPr>
              <a:spcAft>
                <a:spcPts val="1000"/>
              </a:spcAft>
              <a:defRPr sz="1900"/>
            </a:pPr>
            <a:r>
              <a:t>EC2 role could list and upload to project S3</a:t>
            </a:r>
          </a:p>
          <a:p>
            <a:pPr>
              <a:spcAft>
                <a:spcPts val="1000"/>
              </a:spcAft>
              <a:defRPr sz="1900"/>
            </a:pPr>
            <a:r>
              <a:t>Unrelated S3 access returned AccessDenied</a:t>
            </a:r>
          </a:p>
          <a:p>
            <a:pPr>
              <a:spcAft>
                <a:spcPts val="1000"/>
              </a:spcAft>
              <a:defRPr sz="1900"/>
            </a:pPr>
            <a:r>
              <a:t>CloudWatch alarms remained in OK state during verification</a:t>
            </a:r>
          </a:p>
          <a:p>
            <a:pPr>
              <a:spcAft>
                <a:spcPts val="1000"/>
              </a:spcAft>
              <a:defRPr sz="1900"/>
            </a:pPr>
            <a:r>
              <a:t>EBS snapshot completed and restore test succeeded</a:t>
            </a:r>
          </a:p>
          <a:p>
            <a:pPr>
              <a:spcAft>
                <a:spcPts val="1000"/>
              </a:spcAft>
              <a:defRPr sz="1900"/>
            </a:pPr>
            <a:r>
              <a:t>Budget and resource cleanup checks completed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594360"/>
          </a:xfrm>
          <a:prstGeom prst="rect">
            <a:avLst/>
          </a:prstGeom>
          <a:noFill/>
        </p:spPr>
        <p:txBody>
          <a:bodyPr wrap="none">
            <a:spAutoFit/>
          </a:bodyPr>
          <a:lstStyle/>
          <a:p>
            <a:pPr>
              <a:defRPr sz="2600" b="1"/>
            </a:pPr>
            <a:r>
              <a:t>Conclusion</a:t>
            </a:r>
          </a:p>
        </p:txBody>
      </p:sp>
      <p:sp>
        <p:nvSpPr>
          <p:cNvPr id="3" name="TextBox 2"/>
          <p:cNvSpPr txBox="1"/>
          <p:nvPr/>
        </p:nvSpPr>
        <p:spPr>
          <a:xfrm>
            <a:off x="822960" y="1371600"/>
            <a:ext cx="10515600" cy="4389120"/>
          </a:xfrm>
          <a:prstGeom prst="rect">
            <a:avLst/>
          </a:prstGeom>
          <a:noFill/>
        </p:spPr>
        <p:txBody>
          <a:bodyPr wrap="none">
            <a:spAutoFit/>
          </a:bodyPr>
          <a:lstStyle/>
          <a:p>
            <a:pPr>
              <a:defRPr sz="2100"/>
            </a:pPr>
            <a:r>
              <a:t>The completed environment demonstrates an end-to-end AWS workflow: secure identity, custom networking, Linux web hosting, S3 integration, monitoring and alerting, backup/restore, log analysis, testing, and cost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